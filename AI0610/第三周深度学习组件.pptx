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99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</a:rPr>
              <a:t>深度学习常用组件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9C4DD"/>
                </a:solidFill>
              </a:rPr>
              <a:t>原理解析 · PyTorch 实现 · 工程实践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029200" cy="27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33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Adam · Embedding · CNN · RNN · Pooling · Norm · Dropout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2286000" cy="228600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3716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13E60"/>
                </a:solidFill>
              </a:rPr>
              <a:t>7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213E60"/>
                </a:solidFill>
              </a:rPr>
              <a:t>组件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A9FC0"/>
                </a:solidFill>
              </a:rPr>
              <a:t>深度学习系列课程</a:t>
            </a:r>
            <a:endParaRPr 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课程导言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本课程涵盖的组件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24128"/>
            <a:ext cx="2011680" cy="8229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Adam 优化器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自适应学习率，加速收敛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50592" y="1024128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24128"/>
            <a:ext cx="2011680" cy="8229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149961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Embedding 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202996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token → 稠密向量表示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53712" y="1024128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024128"/>
            <a:ext cx="2011680" cy="8229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49961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CNN 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81728" y="202996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局部特征，权重共享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56832" y="1024128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56832" y="1024128"/>
            <a:ext cx="2011680" cy="8229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6784848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1499616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RNN / LSTM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202996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序列建模，时序依赖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" y="2743200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2743200"/>
            <a:ext cx="2011680" cy="8229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720A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321868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池化层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" y="374904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下采样，提取显著特征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450592" y="2743200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50592" y="2743200"/>
            <a:ext cx="2011680" cy="8229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2" name="Text 30"/>
          <p:cNvSpPr/>
          <p:nvPr/>
        </p:nvSpPr>
        <p:spPr>
          <a:xfrm>
            <a:off x="2578608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720A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78608" y="321868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归一化层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78608" y="374904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稳定训练，加速收敛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53712" y="2743200"/>
            <a:ext cx="2011680" cy="15727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3712" y="2743200"/>
            <a:ext cx="2011680" cy="82296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7" name="Text 35"/>
          <p:cNvSpPr/>
          <p:nvPr/>
        </p:nvSpPr>
        <p:spPr>
          <a:xfrm>
            <a:off x="4681728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720A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81728" y="321868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</a:rPr>
              <a:t>Dropout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81728" y="374904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</a:rPr>
              <a:t>随机屏蔽，防过拟合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656832" y="2743200"/>
            <a:ext cx="2011680" cy="15727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56832" y="2743200"/>
            <a:ext cx="2011680" cy="82296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42" name="Text 40"/>
          <p:cNvSpPr/>
          <p:nvPr/>
        </p:nvSpPr>
        <p:spPr>
          <a:xfrm>
            <a:off x="6784848" y="29077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9C4DD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84848" y="3218688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综合实战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784848" y="3749040"/>
            <a:ext cx="17922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9C4DD"/>
                </a:solidFill>
              </a:rPr>
              <a:t>中文文本分类整合</a:t>
            </a:r>
            <a:endParaRPr lang="en-US" sz="1150" dirty="0"/>
          </a:p>
        </p:txBody>
      </p:sp>
      <p:sp>
        <p:nvSpPr>
          <p:cNvPr id="45" name="TextBox 4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课程导言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学习目标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AB"/>
                </a:solidFill>
              </a:rPr>
              <a:t>学完本课程，你能做到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4264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</a:rPr>
              <a:t>理解每个组件的数学原理及其直觉意义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901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</a:rPr>
              <a:t>用 PyTorch 搭建包含多种组件的模型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3774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</a:rPr>
              <a:t>掌握 Adam 优化器的配置与调参技巧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8529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</a:rPr>
              <a:t>构建中文 NLP 文本分类完整流程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256032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46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32841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D2D2D"/>
                </a:solidFill>
              </a:rPr>
              <a:t>识别常见过拟合问题并用正则化手段应对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1005840"/>
            <a:ext cx="0" cy="393192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0515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AB"/>
                </a:solidFill>
              </a:rPr>
              <a:t>技术栈 &amp; 前置知识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444752"/>
            <a:ext cx="39776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4447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语言  </a:t>
            </a:r>
            <a:r>
              <a:rPr lang="en-US" sz="1200" dirty="0">
                <a:solidFill>
                  <a:srgbClr val="2D2D2D"/>
                </a:solidFill>
              </a:rPr>
              <a:t>Python 3.8+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920240"/>
            <a:ext cx="39776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9202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框架  </a:t>
            </a:r>
            <a:r>
              <a:rPr lang="en-US" sz="1200" dirty="0">
                <a:solidFill>
                  <a:srgbClr val="2D2D2D"/>
                </a:solidFill>
              </a:rPr>
              <a:t>PyTorch ≥ 2.0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395728"/>
            <a:ext cx="39776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395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3A5F"/>
                </a:solidFill>
              </a:rPr>
              <a:t>数学</a:t>
            </a:r>
            <a:r>
              <a:rPr lang="en-US" sz="1200" b="1" dirty="0">
                <a:solidFill>
                  <a:srgbClr val="1E3A5F"/>
                </a:solidFill>
              </a:rPr>
              <a:t>  </a:t>
            </a:r>
            <a:r>
              <a:rPr lang="zh-CN" altLang="en-US" sz="1200" dirty="0">
                <a:solidFill>
                  <a:srgbClr val="2D2D2D"/>
                </a:solidFill>
              </a:rPr>
              <a:t>矩阵乘法</a:t>
            </a:r>
            <a:r>
              <a:rPr lang="en-US" sz="1200" dirty="0">
                <a:solidFill>
                  <a:srgbClr val="2D2D2D"/>
                </a:solidFill>
              </a:rPr>
              <a:t>、</a:t>
            </a:r>
            <a:r>
              <a:rPr lang="zh-CN" altLang="en-US" sz="1200" dirty="0">
                <a:solidFill>
                  <a:srgbClr val="2D2D2D"/>
                </a:solidFill>
              </a:rPr>
              <a:t>导数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1216"/>
            <a:ext cx="39776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871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概念  </a:t>
            </a:r>
            <a:r>
              <a:rPr lang="en-US" sz="1200" dirty="0">
                <a:solidFill>
                  <a:srgbClr val="2D2D2D"/>
                </a:solidFill>
              </a:rPr>
              <a:t>反向传播、前向传播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429000"/>
            <a:ext cx="3977640" cy="1417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课程代码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767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</a:rPr>
              <a:t>每节 PPT 配有 PyTorch 代码片段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</a:rPr>
              <a:t>课程末尾提供完整可运行训练脚本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2D2D2D"/>
                </a:solidFill>
              </a:rPr>
              <a:t>无需 GPU，CPU 即可完成实验</a:t>
            </a:r>
            <a:endParaRPr lang="en-US" sz="115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课程导言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学习路径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Adam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优化策略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58468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5336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5336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45336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Embed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45336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向量表示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2596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9464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CNN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9464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局部特征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06724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93592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93592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LSTM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93592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序列建模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30852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Pooling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特征压缩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54980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41848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41848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Norm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41848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训练稳定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79108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65976" y="1463040"/>
            <a:ext cx="932688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65976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65976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Dropout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65976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防过拟合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603236" y="1965960"/>
            <a:ext cx="96012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90104" y="1463040"/>
            <a:ext cx="93268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0104" y="1527048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C4DD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90104" y="17647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实战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90104" y="213055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C4DD"/>
                </a:solidFill>
              </a:rPr>
              <a:t>整合应用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" y="2788920"/>
            <a:ext cx="8101584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最终产出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4088" y="3218688"/>
            <a:ext cx="7781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中文句子分类模型，集成上述所有组件，附完整训练脚本（train_chinese_cls.py）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04088" y="3611880"/>
            <a:ext cx="7781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→ Conv1d → GlobalMaxPool → LayerNorm → Dropout → Linear → Sigmoid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04088" y="4133088"/>
            <a:ext cx="7781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优化器：Adam    损失函数：BCELoss    任务：二分类</a:t>
            </a:r>
            <a:endParaRPr lang="en-US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Adam 优化器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自适应学习率 · 动量加速 · 偏差修正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Adam 优化器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SGD 的局限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梯度下降（SGD）回顾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θ ← θ − η · ∇L(θ)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η = 学习率（全局固定）    ∇L = 梯度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核心问题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402336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61488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✗  学习率难调  </a:t>
            </a:r>
            <a:r>
              <a:rPr lang="en-US" sz="1100" dirty="0">
                <a:solidFill>
                  <a:srgbClr val="2D2D2D"/>
                </a:solidFill>
              </a:rPr>
              <a:t>过大震荡，过小收敛慢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236976"/>
            <a:ext cx="402336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36976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✗  各参数同等对待  </a:t>
            </a:r>
            <a:r>
              <a:rPr lang="en-US" sz="1100" dirty="0">
                <a:solidFill>
                  <a:srgbClr val="2D2D2D"/>
                </a:solidFill>
              </a:rPr>
              <a:t>不同特征梯度尺度差异大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402336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12464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✗  鞍点/平坦区停滞  </a:t>
            </a:r>
            <a:r>
              <a:rPr lang="en-US" sz="1100" dirty="0">
                <a:solidFill>
                  <a:srgbClr val="2D2D2D"/>
                </a:solidFill>
              </a:rPr>
              <a:t>梯度接近零时无法前进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187952"/>
            <a:ext cx="4023360" cy="402336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18795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✗  无动量  </a:t>
            </a:r>
            <a:r>
              <a:rPr lang="en-US" sz="1100" dirty="0">
                <a:solidFill>
                  <a:srgbClr val="2D2D2D"/>
                </a:solidFill>
              </a:rPr>
              <a:t>每步独立，方向可能抖动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241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Adam 如何解决？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417320"/>
            <a:ext cx="3977640" cy="8229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41732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49047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1490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一阶矩（动量）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累积梯度方向，平滑震荡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2377440"/>
            <a:ext cx="3977640" cy="8229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37744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24505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v̂ₜ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二阶矩（自适应）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28346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按参数梯度量级缩放学习率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3337560"/>
            <a:ext cx="3977640" cy="8229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337560"/>
            <a:ext cx="64008" cy="822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341071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4107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偏差修正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消除初期动量估计的偏差</a:t>
            </a:r>
            <a:endParaRPr lang="en-US" sz="1150" dirty="0"/>
          </a:p>
        </p:txBody>
      </p:sp>
      <p:sp>
        <p:nvSpPr>
          <p:cNvPr id="35" name="TextBox 3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Adam 优化器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Adam 原理 — 动量与自适应学习率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每步更新流程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310896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71600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371600"/>
            <a:ext cx="8229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计算梯度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4081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gₜ = ∇L(θₜ₋₁)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6642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当前参数处的损失梯度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310896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84832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2084832"/>
            <a:ext cx="8229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1214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更新一阶矩（动量）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12140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mₜ = β₁ · mₜ₋₁ + (1−β₁) · gₜ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3774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β₁ ≈ 0.9，对梯度做指数移动平均，减少噪声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98064"/>
            <a:ext cx="310896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798064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2798064"/>
            <a:ext cx="8229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834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更新二阶矩（梯度平方）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28346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vₜ = β₂ · vₜ₋₁ + (1−β₂) · gₜ²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0906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β₂ ≈ 0.999，估计梯度的方差（无偏方差代理）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511296"/>
            <a:ext cx="310896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511296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3511296"/>
            <a:ext cx="8229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5478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偏差修正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3547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m̂ₜ = mₜ/(1−β₁ᵗ)   v̂ₜ = vₜ/(1−β₂ᵗ)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380390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t 步时 β₁ᵗ → 0，修正初期动量被低估的问题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224528"/>
            <a:ext cx="310896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224528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" y="4224528"/>
            <a:ext cx="8229600" cy="53035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2611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参数更新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834640" y="42611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θₜ = θₜ₋₁ − η · m̂ₜ / (√v̂ₜ + ε)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451713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ε ≈ 1e-8，防止除零；梯度大的参数步长自动缩小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Adam 优化器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Adam 直觉理解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动量（一阶矩）的作用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</a:rPr>
              <a:t>就像一个球滚下山坡——不仅响应当前坡度，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</a:rPr>
              <a:t>还保留之前滚动方向的惯性。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</a:rPr>
              <a:t>• 梯度方向一致 → 加速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</a:rPr>
              <a:t>• 梯度方向震荡 → 阻尼（平滑）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402336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52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</a:rPr>
              <a:t>β₁=0.9 时：动量更新示意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t=1: m₁ = 0.9×0 + 0.1×g₁ = 0.1 g₁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t=2: m₂ = 0.9×m₁ + 0.1×g₂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t→∞: mₜ ≈ 加权平均梯度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自适应学习率（二阶矩）的作用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对梯度较大的参数缩小步长，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对梯度较小的参数放大步长。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10972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03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参数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103120"/>
            <a:ext cx="914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1031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梯度大小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2103120"/>
            <a:ext cx="8229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1031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√v̂ₜ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35240" y="2103120"/>
            <a:ext cx="10058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21031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有效步长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487168"/>
            <a:ext cx="109728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4871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θ_freq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2487168"/>
            <a:ext cx="91440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4871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487168"/>
            <a:ext cx="82296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48716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35240" y="2487168"/>
            <a:ext cx="1005840" cy="384048"/>
          </a:xfrm>
          <a:prstGeom prst="rect">
            <a:avLst/>
          </a:prstGeom>
          <a:solidFill>
            <a:srgbClr val="FFF3F3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4871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小（精细）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871216"/>
            <a:ext cx="109728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87121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θ_rare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2871216"/>
            <a:ext cx="91440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7121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12280" y="2871216"/>
            <a:ext cx="82296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8712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2871216"/>
            <a:ext cx="10058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28712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大（快速）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364992"/>
            <a:ext cx="397764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364992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有效步长 = η / (√v̂ₜ + ε)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00600" y="39319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梯度大 → v̂ₜ 大 → 步长小；梯度小 → v̂ₜ 小 → 步长大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Adam 优化器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PyTorch 实现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基本用法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5204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44752"/>
            <a:ext cx="3803904" cy="3374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nn.Linear(10, 1)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创建优化器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model.parameters(),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lr=1e-3,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betas=(0.9, 0.999),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eps=1e-8,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weight_decay=1e-4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训练步骤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optimizer.zero_grad()  # 清零梯度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        # 反向传播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optimizer.step()       # 更新参数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关键参数说明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447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44475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19472" y="17007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学习率 η，最关键参数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2057400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1122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1226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(0.9, 0.999)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19472" y="23682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β₁控动量，β₂控二阶矩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724912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7797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77977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1e-8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30358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防止除以零的小常数 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392424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4472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weight_decay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34472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919472" y="37033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L2 正则化（防过拟合）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4059936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1148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amsgrad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411480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19472" y="43708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使用梯度平方的历史最大值</a:t>
            </a:r>
            <a:endParaRPr lang="en-US" sz="1050" dirty="0"/>
          </a:p>
        </p:txBody>
      </p:sp>
      <p:sp>
        <p:nvSpPr>
          <p:cNvPr id="30" name="TextBox 29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Adam 优化器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Adam vs SGD 对比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1920240" cy="45720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24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D2D2D"/>
                </a:solidFill>
              </a:rPr>
              <a:t>特性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13432" y="1024128"/>
            <a:ext cx="1600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68296" y="1024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SGD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50208" y="1024128"/>
            <a:ext cx="17830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024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SGD+Momentum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9864" y="1024128"/>
            <a:ext cx="17830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24728" y="1024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Adam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" y="1481328"/>
            <a:ext cx="1920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481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学习率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13432" y="1481328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68296" y="14813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全局固定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50208" y="1481328"/>
            <a:ext cx="17830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1481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全局固定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9864" y="14813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1481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每参数自适应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7472" y="1938528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动量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13432" y="193852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68296" y="1938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950208" y="1938528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19385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固定 β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69864" y="19385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24728" y="19385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指数移动平均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2395728"/>
            <a:ext cx="1920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自适应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13432" y="2395728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68296" y="23957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50208" y="2395728"/>
            <a:ext cx="17830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05072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769864" y="23957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24728" y="23957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按梯度方差缩放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47472" y="2852928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2852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偏差修正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313432" y="285292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68296" y="28529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950208" y="2852928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5072" y="2852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769864" y="28529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24728" y="28529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有（初期关键）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47472" y="3310128"/>
            <a:ext cx="1920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33101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超参数数量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313432" y="3310128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68296" y="3310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1（lr）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950208" y="3310128"/>
            <a:ext cx="17830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2（lr,β）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69864" y="33101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24728" y="33101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4（lr,β₁,β₂,ε）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47472" y="3767328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37673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稀疏梯度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313432" y="3767328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68296" y="37673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差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950208" y="3767328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05072" y="3767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差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769864" y="37673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24728" y="3767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好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47472" y="4224528"/>
            <a:ext cx="1920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2336" y="4224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5F"/>
                </a:solidFill>
              </a:rPr>
              <a:t>调参难度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2313432" y="4224528"/>
            <a:ext cx="16002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68296" y="42245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低（但敏感）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950208" y="4224528"/>
            <a:ext cx="178308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05072" y="42245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中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769864" y="4224528"/>
            <a:ext cx="17830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24728" y="42245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86AB"/>
                </a:solidFill>
              </a:rPr>
              <a:t>低（默认值即可）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347472" y="4656907"/>
            <a:ext cx="8467344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4656907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实践建议：Adam 是深度学习的默认首选，尤其适合 NLP/Transformer 任务。SGD+Momentum 在 CV 中精心调参后往往有更好泛化能力。</a:t>
            </a:r>
            <a:endParaRPr lang="en-US" sz="1100" dirty="0"/>
          </a:p>
        </p:txBody>
      </p:sp>
      <p:sp>
        <p:nvSpPr>
          <p:cNvPr id="71" name="TextBox 7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Embedding 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离散符号 → 稠密向量 · 中文 NLP 实例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Embedding 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为什么需要 Embedding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文字不能直接送入神经网络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One-Hot 编码（朴素方案）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2296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229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614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8152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81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25880" y="1737360"/>
            <a:ext cx="82296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25880" y="2441448"/>
            <a:ext cx="82296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880" y="276148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27614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25880" y="308152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3081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1737360"/>
            <a:ext cx="822960" cy="32918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学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286000" y="212140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244144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0" y="2761488"/>
            <a:ext cx="822960" cy="292608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7614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0" y="308152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081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46120" y="1737360"/>
            <a:ext cx="822960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46120" y="173736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习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246120" y="212140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46120" y="244144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2441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46120" y="2761488"/>
            <a:ext cx="8229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27614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46120" y="3081528"/>
            <a:ext cx="822960" cy="292608"/>
          </a:xfrm>
          <a:prstGeom prst="rect">
            <a:avLst/>
          </a:prstGeom>
          <a:solidFill>
            <a:srgbClr val="217B4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3081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34838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示例词表仅 4 词；实际中文词表 &gt; 5 万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38130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One-Hot 的缺陷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114800"/>
            <a:ext cx="402336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✗  维度爆炸：中文词表 &gt;5 万，向量极稀疏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517136"/>
            <a:ext cx="4023360" cy="347472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45171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✗  无语义："猫" 和 "狗" 之间无距离关系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10241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Embedding 解决方案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800600" y="138988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将每个词映射为固定维度的稠密实数向量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800600" y="1783080"/>
            <a:ext cx="47548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178308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我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285232" y="2039112"/>
            <a:ext cx="27432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77840" y="1819656"/>
            <a:ext cx="3127248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50992" y="1819656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[0.82, −0.14, 0.36, ...]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00600" y="2441448"/>
            <a:ext cx="47548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2441448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爱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285232" y="2697480"/>
            <a:ext cx="27432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77840" y="2478024"/>
            <a:ext cx="3127248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50992" y="2478024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[0.45,  0.71, −0.22, ...]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00600" y="3099816"/>
            <a:ext cx="47548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0600" y="3099816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学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285232" y="3355848"/>
            <a:ext cx="27432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577840" y="3136392"/>
            <a:ext cx="3127248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50992" y="3136392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[0.61,  0.33, 0.58, ...]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800600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Embedding 优势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800600" y="4133088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9472" y="4133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✓  低维稠密：通常 64~512 维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800600" y="4535424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19472" y="45354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✓  语义相似词距离近（可学习）</a:t>
            </a:r>
            <a:endParaRPr lang="en-US" sz="1100" dirty="0"/>
          </a:p>
        </p:txBody>
      </p:sp>
      <p:sp>
        <p:nvSpPr>
          <p:cNvPr id="76" name="TextBox 7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Embedding 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Embedding 矩阵结构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Embedding 本质是一张查找表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E ∈ ℝ^(V × 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V = 词表大小    d = 向量维度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0160" y="2240280"/>
            <a:ext cx="685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402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d₁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965960" y="2240280"/>
            <a:ext cx="685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22402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51760" y="2240280"/>
            <a:ext cx="685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2402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2240280"/>
            <a:ext cx="685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24028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587752"/>
            <a:ext cx="9144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877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&lt;PAD&gt;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80160" y="258775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5877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65960" y="258775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25877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51760" y="258775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5877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58775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8775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935224"/>
            <a:ext cx="9144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9352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280160" y="293522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29352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65960" y="293522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29352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−0.14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51760" y="293522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29352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0.36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2935224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293522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282696"/>
            <a:ext cx="9144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826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80160" y="3282696"/>
            <a:ext cx="68580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32826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65960" y="3282696"/>
            <a:ext cx="68580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65960" y="32826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51760" y="3282696"/>
            <a:ext cx="68580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32826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−0.22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37560" y="3282696"/>
            <a:ext cx="68580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37560" y="328269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630168"/>
            <a:ext cx="9144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630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学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280160" y="363016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36301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965960" y="363016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65960" y="36301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51760" y="363016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51760" y="36301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37560" y="363016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37560" y="36301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−0.11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65760" y="3977640"/>
            <a:ext cx="91440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977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</a:rPr>
              <a:t>习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280160" y="39776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280160" y="39776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−0.20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965960" y="39776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65960" y="39776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0.48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651760" y="39776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51760" y="39776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0.19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337560" y="39776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37560" y="3977640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65760" y="4553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</a:rPr>
              <a:t>查询 "爱" (id=2) → 取第 3 行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查表过程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4800600" y="13716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输入：词 id（整数）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输出：对应的 d 维向量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800600" y="1938528"/>
            <a:ext cx="39776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0328" y="2011680"/>
            <a:ext cx="3758184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vocab_size=5, embed_dim=4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nn.Embedding(5, 4)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查询 id=2（'爱'）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= torch.tensor([2])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 = emb(idx)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vec.shape → (1, 4)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800600" y="4133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关键特性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800600" y="4434840"/>
            <a:ext cx="397764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19472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权重可反向传播更新（随机初始化）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800600" y="4764024"/>
            <a:ext cx="397764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19472" y="4764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· 可加载预训练词向量（如 Word2Vec）</a:t>
            </a:r>
            <a:endParaRPr lang="en-US" sz="1050" dirty="0"/>
          </a:p>
        </p:txBody>
      </p:sp>
      <p:sp>
        <p:nvSpPr>
          <p:cNvPr id="78" name="TextBox 7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Embedding 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中文 NLP：分词与词表构建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中文 NLP 的特殊性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中文没有空格分隔，需要分词或按字处理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023360" cy="12344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55648"/>
            <a:ext cx="402336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865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字符级（Character-level）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1396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"我爱北京" → ['我','爱','北','京']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3957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+ 词表小（&lt;8000字），不存在未登录词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26426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− 序列较长，语义粒度细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81528"/>
            <a:ext cx="4023360" cy="12344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81528"/>
            <a:ext cx="402336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1912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词级（Word-level）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" y="34655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"我爱北京" → ['我','爱','北京']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7216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7B45"/>
                </a:solidFill>
              </a:rPr>
              <a:t>+ 语义丰富，序列较短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396849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392B"/>
                </a:solidFill>
              </a:rPr>
              <a:t>− 需要分词工具（jieba等），OOV问题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词表构建（字符级）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389888"/>
            <a:ext cx="3977640" cy="36118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1463040"/>
            <a:ext cx="3758184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 = [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'这家店真的很棒',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'服务一般般吧',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收集所有字符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 = set()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 in sentences: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chars.update(list(s))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构建词表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 = {'&lt;PAD&gt;':0, '&lt;UNK&gt;':1}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ch in sorted(chars):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vocab[ch] = len(vocab)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编码句子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encode(sent, vocab, maxlen=16):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= [vocab.get(c,1)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for c in sent]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= ids[:maxlen]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padding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+= [0]*(maxlen-len(ids))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ids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Embedding 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PyTorch 完整用法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从中文句子到 Embedding 向量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803904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vocab_size = 500   # 字符数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embed_dim  = 64    # 向量维度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nn.Embedding(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vocab_size,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embed_dim,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padding_idx=0  # PAD不更新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输入：(batch, seq_len) 的 id 序列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torch.tensor([[3, 7, 2, 0, 0]])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x.shape → (1, 5)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emb(x)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out.shape → (1, 5, 64)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batch=1, seq=5, dim=64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数据流维度变化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39776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721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原始文本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1472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6AB"/>
                </a:solidFill>
              </a:rPr>
              <a:t>字符串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9472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"我爱学习"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84848" y="2130552"/>
            <a:ext cx="0" cy="155448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286000"/>
            <a:ext cx="39776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3408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字符 id 序列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23760" y="23408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6AB"/>
                </a:solidFill>
              </a:rPr>
              <a:t>(seq_len,)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7, 2, 8]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84848" y="2999232"/>
            <a:ext cx="0" cy="155448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154680"/>
            <a:ext cx="39776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209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批量 id 张量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2095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6AB"/>
                </a:solidFill>
              </a:rPr>
              <a:t>(batch, seq)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tensor([[3,7,2,8]])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84848" y="3867912"/>
            <a:ext cx="0" cy="155448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4023360"/>
            <a:ext cx="397764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078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Embedding 输出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40782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86AB"/>
                </a:solidFill>
              </a:rPr>
              <a:t>(batch, seq, d)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(1, 4, 64)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4645152"/>
            <a:ext cx="397764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6451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padding_idx=0 → PAD 对应的向量梯度为 0，不参与训练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Embedding 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预训练 Embedding vs 随机初始化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1828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241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12848" y="1024128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10241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随机初始化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75504" y="1024128"/>
            <a:ext cx="2926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10241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预训练 Embedding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1408176"/>
            <a:ext cx="1828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408176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</a:rPr>
              <a:t>初始状态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12848" y="1408176"/>
            <a:ext cx="29260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40817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均匀/正态分布随机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75504" y="1408176"/>
            <a:ext cx="292608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1408176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7B45"/>
                </a:solidFill>
              </a:rPr>
              <a:t>来自大规模语料训练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184708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847088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</a:rPr>
              <a:t>语义信息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12848" y="18470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1847088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无（需从任务学习）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75504" y="1847088"/>
            <a:ext cx="2926080" cy="438912"/>
          </a:xfrm>
          <a:prstGeom prst="rect">
            <a:avLst/>
          </a:prstGeom>
          <a:solidFill>
            <a:srgbClr val="EBF7F0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48656" y="1847088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7B45"/>
                </a:solidFill>
              </a:rPr>
              <a:t>已包含（如 Word2Vec）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2286000"/>
            <a:ext cx="1828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28600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</a:rPr>
              <a:t>小数据集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12848" y="2286000"/>
            <a:ext cx="29260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28600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可能过拟合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75504" y="2286000"/>
            <a:ext cx="292608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2286000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7B45"/>
                </a:solidFill>
              </a:rPr>
              <a:t>迁移泛化能力强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2724912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724912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</a:rPr>
              <a:t>词表覆盖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12848" y="27249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72491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任意自定义词表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175504" y="2724912"/>
            <a:ext cx="2926080" cy="438912"/>
          </a:xfrm>
          <a:prstGeom prst="rect">
            <a:avLst/>
          </a:prstGeom>
          <a:solidFill>
            <a:srgbClr val="EBF7F0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2724912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7B45"/>
                </a:solidFill>
              </a:rPr>
              <a:t>受限于预训练词表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47472" y="3163824"/>
            <a:ext cx="182880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316382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</a:rPr>
              <a:t>是否 freeze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12848" y="3163824"/>
            <a:ext cx="29260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3163824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不适用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175504" y="3163824"/>
            <a:ext cx="292608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48656" y="3163824"/>
            <a:ext cx="2816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17B45"/>
                </a:solidFill>
              </a:rPr>
              <a:t>可选（fine-tune 或 fix）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47472" y="3675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加载预训练词向量示例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7472" y="3977640"/>
            <a:ext cx="420624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931920"/>
            <a:ext cx="3986784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假设已有 pretrained_matrix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shape: (vocab_size, embed_dim)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 = nn.Embedding.from_pretrained(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pretrained_matrix,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freeze=False  # 允许微调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3749040"/>
            <a:ext cx="3886200" cy="11887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785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实践建议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19472" y="4041648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数据量充足 → 随机初始化，让模型自学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数据量少 → 使用预训练，加速收敛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· 本课程实战：随机初始化（任务简单）</a:t>
            </a:r>
            <a:endParaRPr lang="en-US" sz="115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卷积层（CNN）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局部感受野 · 权重共享 · 1D 卷积用于文本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卷积层（CNN）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卷积操作直觉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两大核心思想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10972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64008" cy="10972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8132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局部感受野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每次只看输入的一个小窗口（卷积核），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不是一次看全局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96896"/>
            <a:ext cx="4023360" cy="109728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596896"/>
            <a:ext cx="64008" cy="1097280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88336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权重共享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同一个卷积核在整个序列上滑动，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参数量不随输入变大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40233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13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图像 vs 文本卷积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图像：Conv2d，核在 H×W 二维滑动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文本：Conv1d，核在序列长度一维滑动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1D 卷积滑动示意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266444"/>
            <a:ext cx="3945635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输入序列（token embedding 后，每列是一个词向量）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737360"/>
            <a:ext cx="658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373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D2D"/>
                </a:solidFill>
              </a:rPr>
              <a:t>我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13832" y="1737360"/>
            <a:ext cx="658368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17373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</a:rPr>
              <a:t>爱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7064" y="1737360"/>
            <a:ext cx="658368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17373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</a:rPr>
              <a:t>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0296" y="1737360"/>
            <a:ext cx="658368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17373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6AB"/>
                </a:solidFill>
              </a:rPr>
              <a:t>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53528" y="1737360"/>
            <a:ext cx="658368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3528" y="173736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D2D"/>
                </a:solidFill>
              </a:rPr>
              <a:t>天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13832" y="1700784"/>
            <a:ext cx="2139696" cy="585216"/>
          </a:xfrm>
          <a:prstGeom prst="rect">
            <a:avLst/>
          </a:prstGeom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14996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</a:rPr>
              <a:t>← 卷积核 k=3 →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43600" y="23042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↓  点积求和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44768" y="2606040"/>
            <a:ext cx="658368" cy="50292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2606040"/>
            <a:ext cx="658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3154680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一个输出特征值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520440"/>
            <a:ext cx="397764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52044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out[i] = Σ w[k] · x[i+k]   (k=0..K-1)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00600" y="4041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w = 可学习的卷积核权重</a:t>
            </a:r>
            <a:endParaRPr lang="en-US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卷积层（CNN）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关键参数：kernel_size · stride · padding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697480" cy="29260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3385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</a:rPr>
              <a:t>kernel_size (k)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卷积核大小，即感受野窗口宽度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k=3：捕捉 trigram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k=5：捕捉 5-gram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" y="2670048"/>
            <a:ext cx="248716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k=3：每次看 3 个 token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024128"/>
            <a:ext cx="2697480" cy="292608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2968" y="1024128"/>
            <a:ext cx="2697480" cy="7315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3" name="Text 11"/>
          <p:cNvSpPr/>
          <p:nvPr/>
        </p:nvSpPr>
        <p:spPr>
          <a:xfrm>
            <a:off x="3282696" y="113385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</a:rPr>
              <a:t>stride (s)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82696" y="1572768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卷积核每次滑动的步长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stride=1：逐位滑动（常用）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stride=2：跳步滑动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82696" y="2670048"/>
            <a:ext cx="248716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s=1：输出长度 ≈ 输入长度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5896" y="1024128"/>
            <a:ext cx="2697480" cy="292608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25896" y="1024128"/>
            <a:ext cx="2697480" cy="73152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13385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</a:rPr>
              <a:t>padding (p)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35624" y="1572768"/>
            <a:ext cx="24871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序列两端补 0，控制输出长度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p=k//2：输出与输入等长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（same padding）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35624" y="2670048"/>
            <a:ext cx="248716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p=1, k=3：输出长度不变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L_out = ⌊(L_in + 2p − k) / s⌋ + 1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L_in=输入序列长，k=卷积核，p=padding，s=stride</a:t>
            </a:r>
            <a:endParaRPr lang="en-US" sz="1100" dirty="0"/>
          </a:p>
        </p:txBody>
      </p:sp>
      <p:sp>
        <p:nvSpPr>
          <p:cNvPr id="26" name="TextBox 2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卷积层（CNN）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多通道特征提取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in_channels 与 out_channels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Embedding 后每个 token 是 d 维向量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 in_channels = embed_dim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out_channels = 卷积核数量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 每个核学习一种局部模式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7249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out_channels=3 时（3 种特征）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14300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01752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情感词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64208" y="3017520"/>
            <a:ext cx="1143000" cy="91440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301752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否定词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62656" y="3017520"/>
            <a:ext cx="11430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301752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核③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强调词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9867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各核独立扫描 → 各输出一张特征图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PyTorch 实现：nn.Conv1d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389888"/>
            <a:ext cx="3977640" cy="34564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1463040"/>
            <a:ext cx="375818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in_channels  = embed_dim = 64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out_channels = 128 (卷积核数)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kernel_size  = 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= nn.Conv1d(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in_channels=64,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out_channels=128,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kernel_size=3,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padding=1   # same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输入 x: (batch, seq, embed)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Conv1d 需要 (batch, channels, seq)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x.transpose(1, 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x: (batch, 64, seq_len)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conv(x)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out: (batch, 128, seq_len)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卷积层（CNN）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PyTorch 完整示例 — 文本 CNN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TextCNN：多尺度卷积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36301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803904" cy="3483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TextCNN(nn.Module):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self.emb = nn.Embedding(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500, 64, padding_idx=0)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3种 kernel 尺寸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self.convs = nn.ModuleList([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nn.Conv1d(64,64,k,padding=k//2)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k in [2, 3, 4]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self.fc = nn.Linear(192, 2)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x: (B, seq)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self.emb(x)       # (B,seq,64)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e.transpose(1,2)  # (B,64,seq)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feats = []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conv in self.convs: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 = conv(e)         # (B,64,seq)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 = c.max(dim=2)[0] # (B,64)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feats.append(c)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torch.cat(feats,1) # (B,192)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self.fc(out)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数据流与设计要点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1188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8988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16752" y="1655064"/>
            <a:ext cx="201168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426464"/>
            <a:ext cx="2514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4264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seq) → (B, seq, 64)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048256"/>
            <a:ext cx="1188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4825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transpose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16752" y="2313432"/>
            <a:ext cx="201168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2084832"/>
            <a:ext cx="2514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0848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seq, 64) → (B, 64, seq)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706624"/>
            <a:ext cx="1188720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0662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Conv1d×3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2971800"/>
            <a:ext cx="201168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6208" y="2743200"/>
            <a:ext cx="2514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64, seq) → (B, 64, seq) ×3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364992"/>
            <a:ext cx="1188720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MaxPool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16752" y="3630168"/>
            <a:ext cx="201168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36208" y="3401568"/>
            <a:ext cx="2514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64, seq) → (B, 64) ×3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4023360"/>
            <a:ext cx="1188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02336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Cat + Linear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16752" y="4288536"/>
            <a:ext cx="201168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4059936"/>
            <a:ext cx="2514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0599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(B, 192) → (B, 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4681728"/>
            <a:ext cx="397764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681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多尺度卷积核 → 同时捕捉 bigram/trigram/4-gram 特征</a:t>
            </a:r>
            <a:endParaRPr lang="en-US" sz="105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05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循环层 RNN / LSTM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序列建模 · 隐状态 · 遗忘门 · 双向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循环层 RNN / LSTM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为什么需要 RNN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CNN 处理序列的局限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CNN 用固定大小的卷积核，最多看 k 个相邻 token。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对长距离依赖（跨越 &gt; k 个位置）无能为力。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402336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848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"这部电影虽然剧情一般，但演技非常出色"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</a:rPr>
              <a:t>"出色" 要参考 "虽然" 才能理解语义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0392B"/>
                </a:solidFill>
              </a:rPr>
              <a:t>→ 长距离依赖问题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3218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RNN 的核心思想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每一步处理当前 token 时，将上一步的隐状态 hₜ₋₁ 一起送入，隐状态充当'记忆'，在序列中传递信息。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RNN 序列展开（时间步）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19472" y="1417320"/>
            <a:ext cx="10058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x₁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22392" y="1874520"/>
            <a:ext cx="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2148840"/>
            <a:ext cx="100584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1488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t=1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22392" y="2834640"/>
            <a:ext cx="0" cy="25603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3090672"/>
            <a:ext cx="1005840" cy="411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906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h₁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25312" y="2487168"/>
            <a:ext cx="320040" cy="0"/>
          </a:xfrm>
          <a:prstGeom prst="line">
            <a:avLst/>
          </a:prstGeom>
          <a:noFill/>
          <a:ln w="12700">
            <a:solidFill>
              <a:srgbClr val="D472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417320"/>
            <a:ext cx="10058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x₂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48272" y="1874520"/>
            <a:ext cx="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2148840"/>
            <a:ext cx="100584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1488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t=2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48272" y="2834640"/>
            <a:ext cx="0" cy="25603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45352" y="3090672"/>
            <a:ext cx="1005840" cy="411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30906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h₂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51192" y="2487168"/>
            <a:ext cx="320040" cy="0"/>
          </a:xfrm>
          <a:prstGeom prst="line">
            <a:avLst/>
          </a:prstGeom>
          <a:noFill/>
          <a:ln w="12700">
            <a:solidFill>
              <a:srgbClr val="D472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71232" y="1417320"/>
            <a:ext cx="100584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14173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x₃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74152" y="1874520"/>
            <a:ext cx="0" cy="2743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71232" y="2148840"/>
            <a:ext cx="1005840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71232" y="21488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t=3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74152" y="2834640"/>
            <a:ext cx="0" cy="25603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71232" y="3090672"/>
            <a:ext cx="1005840" cy="411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309067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</a:rPr>
              <a:t>h₃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00600" y="35844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720A"/>
                </a:solidFill>
              </a:rPr>
              <a:t>← 隐状态 h 在步间传递 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3886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x₁,x₂,x₃ = Embedding 后的词向量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4206240"/>
            <a:ext cx="397764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20624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hₜ = tanh(W_h · hₜ₋₁ + W_x · xₜ + b)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循环层 RNN / LSTM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LSTM — 长短期记忆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简单 RNN 的问题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50292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梯度消失：序列很长时，早期信息经多次 tanh 传递后接近 0，模型「忘记」了很早之前的内容。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LSTM：三个门控制信息流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402336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64008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" y="23865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遗忘门 fₜ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" y="266090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决定从细胞状态 cₜ₋₁ 中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丢弃多少旧信息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478024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fₜ = σ(W_f·[hₜ₋₁,xₜ]+b_f)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36392"/>
            <a:ext cx="402336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36392"/>
            <a:ext cx="64008" cy="7132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3191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输入门 iₜ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" y="34655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决定写入多少新信息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到细胞状态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3282696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iₜ = σ(W_i·[hₜ₋₁,xₜ]+b_i)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941064"/>
            <a:ext cx="402336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41064"/>
            <a:ext cx="64008" cy="713232"/>
          </a:xfrm>
          <a:prstGeom prst="rect">
            <a:avLst/>
          </a:prstGeom>
          <a:solidFill>
            <a:srgbClr val="217B45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" y="3995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输出门 oₜ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" y="427024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决定从细胞状态读出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多少作为隐状态 hₜ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40873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oₜ = σ(W_o·[hₜ₋₁,xₜ]+b_o)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细胞状态更新流程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1389888"/>
            <a:ext cx="8686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89888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候选值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1389888"/>
            <a:ext cx="3063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142646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c̃ₜ = tanh(W_c·[hₜ₋₁,xₜ]+b)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15584" y="179222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新的候选信息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30368" y="2075688"/>
            <a:ext cx="0" cy="22860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304288"/>
            <a:ext cx="8686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304288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细胞更新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2304288"/>
            <a:ext cx="3063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15584" y="234086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cₜ = fₜ⊙cₜ₋₁ + iₜ⊙c̃ₜ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15584" y="270662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遗忘旧 + 写入新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30368" y="2990088"/>
            <a:ext cx="0" cy="22860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218688"/>
            <a:ext cx="8686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18688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隐状态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715000" y="3218688"/>
            <a:ext cx="3063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15584" y="3255264"/>
            <a:ext cx="28529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= oₜ ⊙ tanh(cₜ)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15584" y="3621024"/>
            <a:ext cx="2852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输出门控制读出量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4206240"/>
            <a:ext cx="397764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26110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核心优势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细胞状态 cₜ 直接传播，梯度通道更顺畅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→ 有效缓解梯度消失，支持更长序列</a:t>
            </a:r>
            <a:endParaRPr 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循环层 RNN / LSTM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PyTorch 实现：nn.LSTM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基本用法与输出形状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803904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 = nn.LSTM(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input_size=64,   # embed_dim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hidden_size=128, # h 维度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num_layers=1,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batch_first=True,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bidirectional=False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输入 x: (batch, seq, embed)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torch.randn(8, 20, 64)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out: 每步隐状态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hn: 最后一步 h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cn: 最后一步细胞状态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out, (hn, cn) = lstm(x)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out.shape  → (8, 20, 128)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hn.shape   → (1, 8, 128)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cn.shape   → (1, 8, 128)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关键参数说明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3977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42646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input_size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66560" y="142646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6459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输入向量维度（= embed_dim）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956816"/>
            <a:ext cx="3977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99339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hidden_size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66560" y="1993392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2212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隐状态维度，控制模型容量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523744"/>
            <a:ext cx="3977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56032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num_layers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66560" y="256032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779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堆叠 LSTM 层数（深层 LSTM）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3090672"/>
            <a:ext cx="3977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batch_first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66560" y="31272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34670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输入维度顺序 (B,seq,d)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657600"/>
            <a:ext cx="39776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694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bidirectional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66560" y="3694176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9136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True → 双向 LSTM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4279392"/>
            <a:ext cx="397764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43159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双向 LSTM（bidirectional=True）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4553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前向 + 后向，输出维度 ×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out.shape → (B, seq, hidden×2)</a:t>
            </a:r>
            <a:endParaRPr lang="en-US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循环层 RNN / LSTM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双向 LSTM 与文本应用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双向 LSTM 结构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前向 LSTM：从左到右读序列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后向 LSTM：从右到左读序列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拼接两个方向的隐状态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60120" y="2084832"/>
            <a:ext cx="9144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848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578608"/>
            <a:ext cx="9144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786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108960"/>
            <a:ext cx="9144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03120" y="2084832"/>
            <a:ext cx="9144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0848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2578608"/>
            <a:ext cx="9144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5786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3108960"/>
            <a:ext cx="9144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084832"/>
            <a:ext cx="9144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08483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</a:rPr>
              <a:t>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46120" y="2578608"/>
            <a:ext cx="9144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257860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3108960"/>
            <a:ext cx="9144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108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67004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前向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1821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</a:rPr>
              <a:t>后向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→  每步输出 [h→; h←]，维度翻倍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77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out: (B, seq, hidden_size × 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LSTM 用于文本分类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1389888"/>
            <a:ext cx="3977640" cy="34564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463040"/>
            <a:ext cx="375818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LSTMClassifier(nn.Module):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self.emb = nn.Embedding(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500, 64, padding_idx=0)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self.lstm = nn.LSTM(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64, 128,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batch_first=True)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self.fc = nn.Linear(128, 2)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self.emb(x)    # (B,L,64)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out, (hn, _) = self.lstm(e)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取最后一步隐状态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hn.squeeze(0) # (B,128)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self.fc(h)</a:t>
            </a:r>
            <a:endParaRPr lang="en-US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池化层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MaxPool · AvgPool · 全局最大池化 · 文本应用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池化层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池化的作用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两大作用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11704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64008" cy="11704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4813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下采样（降维）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" y="1865376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将长序列压缩为更短的表示，减少计算量和参数量，同时保留最重要的特征。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688336"/>
            <a:ext cx="4023360" cy="1170432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88336"/>
            <a:ext cx="64008" cy="1170432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7797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平移不变性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" y="3163824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关键特征无论出现在序列的哪个位置，经过池化后都能被捕捉到，提升模型鲁棒性。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059936"/>
            <a:ext cx="4023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148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在模型中的位置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3708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→ ReLU → Pool → Linear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MaxPool vs AvgPool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56692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67528" y="1389888"/>
            <a:ext cx="56692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34456" y="1389888"/>
            <a:ext cx="56692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4456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01384" y="1389888"/>
            <a:ext cx="56692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068312" y="1389888"/>
            <a:ext cx="56692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635240" y="1389888"/>
            <a:ext cx="56692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389888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2D2D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19019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输入序列 → [3, 7, 1, 9, 2, 5]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212848"/>
            <a:ext cx="39776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2677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最大池化 MaxPool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22677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19472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取窗口内最大值，保留最显著特征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944368"/>
            <a:ext cx="39776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9992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平均池化 AvgPool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0" y="29992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4.5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19472" y="32552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取窗口内平均值，考虑整体分布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73075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NLP 中更常用 MaxPool：情感等特征往往体现在几个关键词，MaxPool 更善于找出这些峰值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4297680"/>
            <a:ext cx="39776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297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MaxPool 偏向显著特征  ·  AvgPool 反映整体</a:t>
            </a:r>
            <a:endParaRPr lang="en-US" sz="1150" dirty="0"/>
          </a:p>
        </p:txBody>
      </p:sp>
      <p:sp>
        <p:nvSpPr>
          <p:cNvPr id="43" name="TextBox 4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池化层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全局最大池化 — 文本分类的利器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AB"/>
                </a:solidFill>
              </a:rPr>
              <a:t>全局最大池化（Global Max Pooling）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49961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不指定固定窗口大小，而是对整个序列维度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取最大值，将变长序列压缩为固定维度向量。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219456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16736" y="2194560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0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2670048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670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16736" y="2670048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16736" y="2670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45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3145536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145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16736" y="3145536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16736" y="3145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21024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16736" y="3621024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16736" y="36210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" y="4096512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316736" y="4096512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16736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572000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72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1248" y="4572000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572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0.5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316736" y="4572000"/>
            <a:ext cx="475488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16736" y="4572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0.3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192024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(seq=6, feat=3)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83664" y="3621024"/>
            <a:ext cx="45720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01952" y="33284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86AB"/>
                </a:solidFill>
              </a:rPr>
              <a:t>max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E86AB"/>
                </a:solidFill>
              </a:rPr>
              <a:t>(dim=0)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32304" y="338328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32304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907792" y="338328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383280" y="338328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83280" y="33832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0.9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432304" y="389534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</a:rPr>
              <a:t>(feat=3)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PyTorch 实现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800600" y="1389888"/>
            <a:ext cx="3977640" cy="345643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10328" y="1463040"/>
            <a:ext cx="375818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torch.nn.functional as F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方式 1：手动 max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x: (batch, channels, seq_len)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x.max(dim=2)[0]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out: (batch, channels)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方式 2：AdaptiveMaxPool1d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 = nn.AdaptiveMaxPool1d(1)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pool(x).squeeze(-1)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等价效果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TextCNN 中的用法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emb(tokens).transpose(1,2)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conv(e)        # (B,C,L)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c.max(dim=2)[0]# (B,C)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 = fc(v)</a:t>
            </a:r>
            <a:endParaRPr lang="en-US" sz="1100" dirty="0"/>
          </a:p>
        </p:txBody>
      </p:sp>
      <p:sp>
        <p:nvSpPr>
          <p:cNvPr id="57" name="TextBox 5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归一化层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BatchNorm · LayerNorm · 内部协变量偏移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归一化层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为什么需要归一化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内部协变量偏移（Internal Covariate Shift）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8412480" cy="621792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08176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每次参数更新后，各层输入的分布都在改变。前一层输出分布的漂移，使后一层不得不持续适应新分布，导致训练不稳定、需要更小的学习率。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2697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76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无归一化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2697480" cy="1508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33472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各层输入分布漂移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训练不稳定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需要极小学习率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176272"/>
            <a:ext cx="269748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2176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BatchNorm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18688" y="2578608"/>
            <a:ext cx="2697480" cy="1508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2633472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对每个特征维度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在 batch 方向归一化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稳定训练，加速收敛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2176272"/>
            <a:ext cx="2697480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176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LayerNorm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1616" y="2578608"/>
            <a:ext cx="2697480" cy="1508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2633472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对每个样本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在特征维度归一化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NLP / 变长序列首选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归一化 → 将每层输入拉回均值 0、方差 1 附近 → 加速收敛 + 允许更大学习率</a:t>
            </a:r>
            <a:endParaRPr lang="en-US" sz="125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归一化层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BatchNorm — 批归一化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归一化步骤（训练时）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10896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389888"/>
            <a:ext cx="3657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264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计算批均值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14264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μ_B = (1/m) Σ xᵢ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007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在当前 mini-batch 上计算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310896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084832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2084832"/>
            <a:ext cx="3657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21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计算批方差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21214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σ²_B = (1/m) Σ(xᵢ−μ_B)²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957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在当前 mini-batch 上计算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310896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779776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2779776"/>
            <a:ext cx="3657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8163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归一化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281635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x̂ᵢ = (xᵢ−μ_B) / √(σ²_B+ε)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ε 防止除零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310896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74720"/>
            <a:ext cx="3108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3474720"/>
            <a:ext cx="3657600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5112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仿射变换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48840" y="35112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= γ·x̂ᵢ + 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8561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γ, β 是可学习参数（缩放+平移）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4023360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8795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推理时：使用训练时统计的移动平均 μ 和 σ²，不依赖当前 batch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PyTorch 实现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00600" y="1389888"/>
            <a:ext cx="397764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0328" y="1463040"/>
            <a:ext cx="3758184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对 1D 特征归一化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num_features = 通道数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= nn.BatchNorm1d(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num_features=128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输入: (batch, features)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torch.randn(32, 128)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bn(x)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out.shape → (32, 128)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对序列数据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输入: (batch, features, seq)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 = torch.randn(32, 128, 20)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out2 = bn(x2)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4224528"/>
            <a:ext cx="3977640" cy="50292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BN 局限：batch 小时统计量不稳定；可变长序列中 batch 维度统计意义弱 → NLP 中更推荐 LayerNorm</a:t>
            </a:r>
            <a:endParaRPr lang="en-US" sz="1050" dirty="0"/>
          </a:p>
        </p:txBody>
      </p:sp>
      <p:sp>
        <p:nvSpPr>
          <p:cNvPr id="38" name="TextBox 3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归一化层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LayerNorm — 层归一化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归一化方向的区别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BatchNorm：在 Batch 方向归一化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82496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82496"/>
            <a:ext cx="475488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682496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1682496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2996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029968"/>
            <a:ext cx="475488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02996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202996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77440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377440"/>
            <a:ext cx="475488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2377440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2377440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24912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2724912"/>
            <a:ext cx="475488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2724912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2724912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45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↑ 按列（特征维）在 batch 方向做统计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474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LayerNorm：在特征方向归一化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85616"/>
            <a:ext cx="475488" cy="32004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3785616"/>
            <a:ext cx="475488" cy="32004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785616"/>
            <a:ext cx="475488" cy="32004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4520" y="3785616"/>
            <a:ext cx="475488" cy="320040"/>
          </a:xfrm>
          <a:prstGeom prst="rect">
            <a:avLst/>
          </a:prstGeom>
          <a:solidFill>
            <a:srgbClr val="D4720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3308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413308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413308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74520" y="4133088"/>
            <a:ext cx="475488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480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→ 按行（每个样本）在特征方向做统计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LayerNorm 公式与代码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00600" y="1371600"/>
            <a:ext cx="3977640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37160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x̂ = (x − mean(x)) / std(x)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y = γ · x̂ + β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00600" y="2121408"/>
            <a:ext cx="39776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2194560"/>
            <a:ext cx="375818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normalized_shape = 最后一维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= nn.LayerNorm(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normalized_shape=64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对序列中每个位置的 embed 归一化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torch.randn(8, 20, 64)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ln(x)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out.shape → (8, 20, 64)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不依赖 batch size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推理和训练行为一致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4498848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44988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Transformer / BERT 都使用 LayerNorm，NLP 标准选择</a:t>
            </a:r>
            <a:endParaRPr lang="en-US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Dropout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随机屏蔽 · 防过拟合 · 训练/推理切换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Dropout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过拟合与 Dropout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过拟合回顾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566928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模型在训练集上表现极好，但在测试集上效果差——记住了噪声，而非学到真正规律。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Dropout 的直觉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40233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训练时随机让一部分神经元「沉默」（输出置 0），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强迫网络不能依赖特定神经元，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而是学习更分散、更鲁棒的特征表示。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类比：每次考试随机抽取部分同学，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每位同学都必须能独立解题。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877056"/>
            <a:ext cx="4023360" cy="8686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Dropout 的正则化效果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2062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相当于训练了 2^n 个不同子网络的集成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→ 防止神经元共同适应（co-adaptation）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随机屏蔽示意（p=0.5）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3898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训练时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700784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22392" y="1700784"/>
            <a:ext cx="548640" cy="548640"/>
          </a:xfrm>
          <a:prstGeom prst="rect">
            <a:avLst/>
          </a:prstGeom>
          <a:solidFill>
            <a:srgbClr val="DEDEDE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22392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</a:rPr>
              <a:t>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44184" y="1700784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65976" y="1700784"/>
            <a:ext cx="548640" cy="548640"/>
          </a:xfrm>
          <a:prstGeom prst="rect">
            <a:avLst/>
          </a:prstGeom>
          <a:solidFill>
            <a:srgbClr val="DEDEDE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6666"/>
                </a:solidFill>
              </a:rPr>
              <a:t>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87768" y="1700784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87768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09560" y="1700784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17007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3042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随机 50% 节点被置 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推理时（eval mode）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22392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22392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44184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44184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65976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87768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7768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09560" y="2944368"/>
            <a:ext cx="548640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00600" y="354787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全部节点激活，输出 × (1−p) 缩放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3886200"/>
            <a:ext cx="397764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88620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训练: y = x · mask / (1−p)    推理: y = x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800600" y="44348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mask ~ Bernoulli(1−p)，inverted dropout（PyTorch 默认）</a:t>
            </a:r>
            <a:endParaRPr lang="en-US" sz="105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Dropout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PyTorch 实现与使用技巧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基本用法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63040"/>
            <a:ext cx="3803904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 = nn.Dropout(p=0.5)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训练模式（model.train()）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dropout(x)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50% 元素置 0，其余缩放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推理模式（model.eval()）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model.eval()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x_eval = dropout(x)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等价于 x </a:t>
            </a:r>
            <a:r>
              <a:rPr lang="en-US" sz="1100" dirty="0" err="1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本身（无屏蔽</a:t>
            </a: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参数与位置建议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3898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 值选择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719072"/>
            <a:ext cx="397764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7556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0.1 ~ 0.2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938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Embedding 层后（信息稀疏）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249424"/>
            <a:ext cx="397764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2860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0.3 ~ 0.5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全连接层前（最常用范围）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779776"/>
            <a:ext cx="3977640" cy="438912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8163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&gt; 0.5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9992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通常不用，信息损失过多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2598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常见放置位置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515868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5158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Embedding 后  </a:t>
            </a:r>
            <a:r>
              <a:rPr lang="en-US" sz="1100" dirty="0">
                <a:solidFill>
                  <a:srgbClr val="666666"/>
                </a:solidFill>
              </a:rPr>
              <a:t>防止 embed 权重过拟合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936492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9364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Conv 后  </a:t>
            </a:r>
            <a:r>
              <a:rPr lang="en-US" sz="1100" dirty="0">
                <a:solidFill>
                  <a:srgbClr val="666666"/>
                </a:solidFill>
              </a:rPr>
              <a:t>减少特征图的过拟合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4357116"/>
            <a:ext cx="397764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3571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全连接层前  </a:t>
            </a:r>
            <a:r>
              <a:rPr lang="en-US" sz="1100" dirty="0">
                <a:solidFill>
                  <a:srgbClr val="666666"/>
                </a:solidFill>
              </a:rPr>
              <a:t>最常见，效果最显著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4814316"/>
            <a:ext cx="3977640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8143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务必在推理前调用 model.eval()，否则预测不稳定</a:t>
            </a:r>
            <a:endParaRPr lang="en-US" sz="1050" dirty="0"/>
          </a:p>
        </p:txBody>
      </p:sp>
      <p:sp>
        <p:nvSpPr>
          <p:cNvPr id="29" name="TextBox 2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09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综合实战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中文句子分类 · 整合所有组件 · 完整 PyTorch 流程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综合实战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任务定义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任务：中文句子二分类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4023360" cy="12344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分类规则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句子中含有关键字（好/棒/赞/喜欢/满意）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正样本（标签 1）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句子中不含关键字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→ 负样本（标签 0）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样本示例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35808"/>
            <a:ext cx="384048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35808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" y="3035808"/>
            <a:ext cx="3602736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35808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这家餐厅真的很棒，下次还来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384048" cy="32918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38144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" y="3438144"/>
            <a:ext cx="3602736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38144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我喜欢这款产品的设计风格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8404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40480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" y="3840480"/>
            <a:ext cx="3602736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840480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今天天气阴沉，出门忘带雨伞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42816"/>
            <a:ext cx="384048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42816"/>
            <a:ext cx="3840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" y="4242816"/>
            <a:ext cx="3602736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242816"/>
            <a:ext cx="34198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这部电影情节比较平淡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技术方案总览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389888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3898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数据生成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99632" y="1389888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138988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纯 Python 构造，无需下载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1792224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7922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字符分词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1792224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179222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按字拆分，构建词表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2194560"/>
            <a:ext cx="1371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1945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Embedding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2194560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194560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nn.Embedding(vocab, 64)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2596896"/>
            <a:ext cx="1371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5968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050" b="1" dirty="0" err="1">
                <a:solidFill>
                  <a:srgbClr val="FFFFFF"/>
                </a:solidFill>
              </a:rPr>
              <a:t>Rnn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2596896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259689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50" dirty="0"/>
              <a:t>使用循环神经网络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00600" y="2999232"/>
            <a:ext cx="1371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29992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GlobalMaxPool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99632" y="2999232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2999232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序列压缩为固定向量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00600" y="3401568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401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LayerNorm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99632" y="3401568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91072" y="3401568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稳定训练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00600" y="3803904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8039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Dropout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99632" y="3803904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91072" y="3803904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p=0.3，防过拟合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00600" y="4206240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42062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Linear+Sigmoid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199632" y="4206240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4206240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二分类输出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00600" y="4608576"/>
            <a:ext cx="1371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6085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Adam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199632" y="4608576"/>
            <a:ext cx="2578608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91072" y="4608576"/>
            <a:ext cx="2395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lr=1e-3，优化器</a:t>
            </a:r>
            <a:endParaRPr lang="en-US" sz="1050" dirty="0"/>
          </a:p>
        </p:txBody>
      </p:sp>
      <p:sp>
        <p:nvSpPr>
          <p:cNvPr id="64" name="TextBox 6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综合实战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数据生成策略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可复现数据生成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无需下载任何数据集，纯 Python 构造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关键词触发规则，标签确定性强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4023360" cy="29900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97380"/>
            <a:ext cx="3803904" cy="2843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正样本触发词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POS_KEYS = ['好','棒','赞',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'喜欢','满意']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TEMPLATES_POS = [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'这家{}真的很{}，下次还来',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'{}体验非常{}',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TEMPLATES_NEG = [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'今天天气阴沉，出门忘带雨伞',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'这部电影情节比较平淡',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'路上堵车耽误了很多时间',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make_positive():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kw  = random.choice(POS_KEYS)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tmpl = random.choice(TEMPLATES_POS)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tmpl.format('餐厅', kw)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make_negative():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random.choice(TEMPLATES_NEG)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987552"/>
            <a:ext cx="0" cy="3840480"/>
          </a:xfrm>
          <a:prstGeom prst="line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</a:rPr>
              <a:t>词表构建与编码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389888"/>
            <a:ext cx="3977640" cy="36393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463040"/>
            <a:ext cx="3758184" cy="349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build_vocab(data):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vocab={'&lt;PAD&gt;':0,'&lt;UNK&gt;':1}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s,_ in data: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 in s: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ch not in vocab: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vocab[ch]=len(vocab)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vocab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MAXLEN=32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encode(s, vocab):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ids=[vocab.get(c,1) for c in s]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(ids+[0]*MAXLEN)[:MAXLEN]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TextDataset(Dataset):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data, vocab):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self.X=[encode(s,vocab)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s,_ in data]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self.y=[lb for _,lb in data]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__len__(self):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len(self.y)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__getitem__(self, i):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torch.tensor(self.X[i],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dtype=torch.long),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torch.tensor(self.y[i],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dtype=torch.float))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6AB"/>
                </a:solidFill>
              </a:rPr>
              <a:t>综合实战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8404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3A5F"/>
                </a:solidFill>
              </a:rPr>
              <a:t>课程总结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24128"/>
            <a:ext cx="1115568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Adam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自适应学习率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54480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1024128"/>
            <a:ext cx="1115568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Embedding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稠密向量化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61488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024128"/>
            <a:ext cx="1115568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/>
          <p:nvPr/>
        </p:nvSpPr>
        <p:spPr>
          <a:xfrm>
            <a:off x="2761488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CNN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61488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局部特征提取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68496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68496" y="1024128"/>
            <a:ext cx="1115568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3968496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RNN/LSTM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68496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时序依赖建模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175504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75504" y="1024128"/>
            <a:ext cx="1115568" cy="640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3" name="Text 21"/>
          <p:cNvSpPr/>
          <p:nvPr/>
        </p:nvSpPr>
        <p:spPr>
          <a:xfrm>
            <a:off x="5175504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Pooling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75504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特征压缩聚合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82512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1024128"/>
            <a:ext cx="1115568" cy="640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Norm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82512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训练稳定加速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1024128"/>
            <a:ext cx="1115568" cy="105156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024128"/>
            <a:ext cx="1115568" cy="64008"/>
          </a:xfrm>
          <a:prstGeom prst="rect">
            <a:avLst/>
          </a:prstGeom>
          <a:solidFill>
            <a:srgbClr val="D4720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1133856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Dropout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0" y="153619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</a:rPr>
              <a:t>防止过拟合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7472" y="2212848"/>
            <a:ext cx="8449056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2212848"/>
            <a:ext cx="64008" cy="7498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267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实战项目：中文句子关键词分类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25603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C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→ Conv1d → Pool → LayerNorm → Dropout → Linear  +  Adam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" y="309067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进阶学习方向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7472" y="3438144"/>
            <a:ext cx="4133088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438144"/>
            <a:ext cx="54864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" y="3474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Attention 机制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4632" y="3730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自注意力权重替代固定池化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45152" y="3438144"/>
            <a:ext cx="4133088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45152" y="3438144"/>
            <a:ext cx="54864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4" name="Text 42"/>
          <p:cNvSpPr/>
          <p:nvPr/>
        </p:nvSpPr>
        <p:spPr>
          <a:xfrm>
            <a:off x="4782312" y="34747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Transformer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782312" y="3730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BERT 等预训练语言模型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472" y="4096512"/>
            <a:ext cx="4133088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4096512"/>
            <a:ext cx="54864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" y="41330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真实数据集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84632" y="4389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ChnSentiCorp 等中文情感数据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45152" y="4096512"/>
            <a:ext cx="4133088" cy="53035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45152" y="4096512"/>
            <a:ext cx="54864" cy="5303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2" name="Text 50"/>
          <p:cNvSpPr/>
          <p:nvPr/>
        </p:nvSpPr>
        <p:spPr>
          <a:xfrm>
            <a:off x="4782312" y="41330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超参搜索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782312" y="43891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学习率调度、batch size 实验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47472" y="4681728"/>
            <a:ext cx="8449056" cy="27432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完整训练代码见：train_chinese_cls.py   可直接在 CPU 运行，无需 GPU</a:t>
            </a:r>
            <a:endParaRPr lang="en-US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4335</Words>
  <Application>Microsoft Office PowerPoint</Application>
  <PresentationFormat>全屏显示(16:9)</PresentationFormat>
  <Paragraphs>1032</Paragraphs>
  <Slides>40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3" baseType="lpstr"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10</cp:revision>
  <dcterms:created xsi:type="dcterms:W3CDTF">2026-04-10T07:30:20Z</dcterms:created>
  <dcterms:modified xsi:type="dcterms:W3CDTF">2026-04-21T07:10:21Z</dcterms:modified>
</cp:coreProperties>
</file>